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82" r:id="rId2"/>
    <p:sldId id="283" r:id="rId3"/>
    <p:sldId id="284" r:id="rId4"/>
    <p:sldId id="285" r:id="rId5"/>
    <p:sldId id="261" r:id="rId6"/>
    <p:sldId id="293" r:id="rId7"/>
    <p:sldId id="294" r:id="rId8"/>
    <p:sldId id="295" r:id="rId9"/>
    <p:sldId id="281" r:id="rId10"/>
    <p:sldId id="297" r:id="rId11"/>
    <p:sldId id="298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35" autoAdjust="0"/>
    <p:restoredTop sz="88235" autoAdjust="0"/>
  </p:normalViewPr>
  <p:slideViewPr>
    <p:cSldViewPr snapToGrid="0">
      <p:cViewPr varScale="1">
        <p:scale>
          <a:sx n="69" d="100"/>
          <a:sy n="69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358"/>
    </p:cViewPr>
  </p:sorterViewPr>
  <p:notesViewPr>
    <p:cSldViewPr snapToGrid="0">
      <p:cViewPr varScale="1">
        <p:scale>
          <a:sx n="68" d="100"/>
          <a:sy n="68" d="100"/>
        </p:scale>
        <p:origin x="272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5942A-3C0F-4DEA-B26A-4CFAD11BB25D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98133-D36A-42F4-BE09-699740F40C6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0074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 2 boda</a:t>
            </a:r>
          </a:p>
          <a:p>
            <a:r>
              <a:rPr lang="hr-HR" dirty="0"/>
              <a:t>Pokoj vječni, </a:t>
            </a:r>
            <a:r>
              <a:rPr lang="hr-HR" dirty="0" err="1"/>
              <a:t>Lauretanske</a:t>
            </a:r>
            <a:r>
              <a:rPr lang="hr-HR" dirty="0"/>
              <a:t> litanije, Gospina krunica, Zlatna krunica, Sakramenti, Bolesničko pomazanje, 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29443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70 znakova!</a:t>
            </a:r>
          </a:p>
          <a:p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nj i </a:t>
            </a:r>
            <a:r>
              <a:rPr lang="hr-H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lj</a:t>
            </a:r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hr-H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dž</a:t>
            </a:r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tretira kao jedno slovo</a:t>
            </a:r>
          </a:p>
          <a:p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 2 boda</a:t>
            </a:r>
          </a:p>
          <a:p>
            <a:endParaRPr lang="hr-H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Apostolsko vjerovanje</a:t>
            </a:r>
            <a:r>
              <a:rPr lang="hr-HR" dirty="0">
                <a:effectLst/>
              </a:rPr>
              <a:t> /</a:t>
            </a:r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Čin ufanja</a:t>
            </a:r>
            <a:r>
              <a:rPr lang="hr-HR" dirty="0">
                <a:effectLst/>
              </a:rPr>
              <a:t> /</a:t>
            </a:r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Molitva je razgovor s Bogom.</a:t>
            </a:r>
            <a:r>
              <a:rPr lang="hr-HR" dirty="0">
                <a:effectLst/>
              </a:rPr>
              <a:t> /</a:t>
            </a:r>
            <a:r>
              <a:rPr lang="hr-H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Ljubite jedni druge kao što sam i ja vas ljubio!</a:t>
            </a:r>
            <a:r>
              <a:rPr lang="hr-HR" dirty="0">
                <a:effectLst/>
              </a:rPr>
              <a:t> 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9569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altLang="sr-Latn-RS" dirty="0"/>
              <a:t>Pokazivat ću redom grupe i jedan iz grupe pokuša dati odgovor. </a:t>
            </a:r>
          </a:p>
          <a:p>
            <a:r>
              <a:rPr lang="hr-HR" dirty="0"/>
              <a:t>Pojmovi: blaženik/ica, Abraham, papa Leon XIV, Knjiga Postanka, Evanđelje po Luki, Marija Bistrica, radna bilježnica</a:t>
            </a:r>
          </a:p>
          <a:p>
            <a:r>
              <a:rPr lang="hr-HR" dirty="0"/>
              <a:t>PO 2 BODA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839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 2 BODA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61877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UPALITI ZVUK NA 50%!!!!</a:t>
            </a:r>
          </a:p>
          <a:p>
            <a:endParaRPr lang="hr-HR" dirty="0"/>
          </a:p>
          <a:p>
            <a:r>
              <a:rPr lang="hr-HR" dirty="0"/>
              <a:t>Đakon,</a:t>
            </a:r>
          </a:p>
          <a:p>
            <a:r>
              <a:rPr lang="hr-HR" dirty="0"/>
              <a:t>Kovčeg Saveza,</a:t>
            </a:r>
          </a:p>
          <a:p>
            <a:r>
              <a:rPr lang="hr-HR" dirty="0"/>
              <a:t>Ivan Krstitelj,</a:t>
            </a:r>
          </a:p>
          <a:p>
            <a:r>
              <a:rPr lang="hr-HR" dirty="0"/>
              <a:t>adventski vijenac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03315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altLang="sr-Latn-RS" dirty="0"/>
              <a:t>Pokazivat ću redom grupe i jedan iz grupe pokuša dati odgovor. Grupa koja je dala crtača – ako pogodi onda oni dobivaju 2 boda.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dirty="0"/>
              <a:t>PO 2 BODA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10C10B-4BE7-40AA-AE5A-C8229F5D3EFC}" type="slidenum">
              <a:rPr lang="hr-HR" altLang="sr-Latn-RS" smtClean="0"/>
              <a:pPr>
                <a:defRPr/>
              </a:pPr>
              <a:t>6</a:t>
            </a:fld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678700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46862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zervirano mjesto slike slajda 1">
            <a:extLst>
              <a:ext uri="{FF2B5EF4-FFF2-40B4-BE49-F238E27FC236}">
                <a16:creationId xmlns:a16="http://schemas.microsoft.com/office/drawing/2014/main" id="{909601EF-52AE-6B42-0493-8C6E278371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zervirano mjesto bilježaka 2">
            <a:extLst>
              <a:ext uri="{FF2B5EF4-FFF2-40B4-BE49-F238E27FC236}">
                <a16:creationId xmlns:a16="http://schemas.microsoft.com/office/drawing/2014/main" id="{CF7DF8CF-06FB-C228-4904-1EE2F9B6F5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hr-HR" altLang="sr-Latn-RS" dirty="0"/>
              <a:t>Mojsije, Isusov grob, anđeo Gabrijel, Vatikan</a:t>
            </a:r>
          </a:p>
        </p:txBody>
      </p:sp>
      <p:sp>
        <p:nvSpPr>
          <p:cNvPr id="7172" name="Rezervirano mjesto broja slajda 3">
            <a:extLst>
              <a:ext uri="{FF2B5EF4-FFF2-40B4-BE49-F238E27FC236}">
                <a16:creationId xmlns:a16="http://schemas.microsoft.com/office/drawing/2014/main" id="{4D8F5479-9C65-0EC6-6E8A-D0015E7F1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EB0544-8247-4C8B-9E54-D96B96935C43}" type="slidenum">
              <a:rPr lang="hr-HR" altLang="sr-Latn-RS"/>
              <a:pPr>
                <a:spcBef>
                  <a:spcPct val="0"/>
                </a:spcBef>
              </a:pPr>
              <a:t>8</a:t>
            </a:fld>
            <a:endParaRPr lang="hr-HR" altLang="sr-Latn-R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SVAKO ISKORIŠTENO SLOVO PO BOD!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5994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bonus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8133-D36A-42F4-BE09-699740F40C6F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481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BA46C1-DFDF-021C-428E-AB21D97EF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8D1BD42-22C9-0698-1789-ECE72B8EB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97285F3-8EE2-815F-0512-B1088DA8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EA6C256-85F9-31C4-29A1-E27528C4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A7BA456B-6982-5A17-61B5-83336861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207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CE1FAAB-0000-174B-75EA-C1ED89EC0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E670B2B-A9F3-D108-67A9-3E9B5C35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00C8315-2D04-108B-C931-04E6CE43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189339D-AB0B-F133-87D7-3CFA3CB5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9F2B370-779B-38F4-6EE1-9EB707BF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32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85A5140-1530-22F3-6012-1831CC08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10D0CE46-9439-E85E-DEB2-EB0948C01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612784F-EA71-22B9-A419-0C975678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EEEA3BB2-A108-9A85-8672-30D5F827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A728E275-DEB5-0A09-2B85-B5F89DB8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8504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0171D5B-99A5-84A6-4C61-27CFCA30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A3D75C6-5C1F-C073-26D3-B423B6CF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F7B66454-A4F8-35A5-7B99-B5E01889D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CFFCE64D-A9E4-6B21-421C-670F8D95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766B15F-AFC9-08B0-B967-4ABD85D5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9EB9732F-F1E2-0844-093D-C4F35A5C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96863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5A6B9C8-068D-A0D8-4A03-D2A45376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88F74EDD-78D9-AE7C-72AE-B312A04BE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5112B2A3-AC7B-6DD9-B6AE-49E72233F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11947702-0368-3AD2-D632-8B45FD41B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CA66AFD6-1DFC-8E56-2F2E-23BAAB7C7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67D9C931-5359-608A-A209-1544CCEB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B13E56B1-C9B2-38AE-DC39-89E71309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E3A55BA6-DA01-86FD-33F0-03AA1CEC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42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99546A5-5C87-7E4A-B06C-43FA396D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F28E625C-5D42-F4FB-1DCC-35D7D0A4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EB2531BD-8562-6515-1E76-766A14CE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48AC5636-E5AE-DEC8-0983-EF0CCEA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685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83865BE4-B50A-46D3-E2F4-EA357E00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54BA9F73-000C-760B-2685-5667ECD9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4E28A5D-CB80-3F2F-615C-FD1C08F3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5996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63FDAA-7D6E-2044-5707-D1774471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A676DB4-AE26-974D-F673-21AAD5BC1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0FC54496-AC05-7426-7E9E-BC9F2B7D3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3B725EAE-113C-0C03-E7ED-2535A234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1B3350E5-9084-5C06-4B01-0A35E9A6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DE887D42-6A87-95AE-099D-AD6CCE43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83493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215D001-80F8-2E53-DEEF-95E939D0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5924BB02-4B2D-3C5E-51C5-E41BF9738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2D9E586B-32EC-61C5-8240-08D2E240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838749A5-4BAD-C470-D53F-679104EC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E0F8839F-DCC6-D509-71B0-EDF2A33E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4E122C2C-D615-4D2A-7873-04CB1F96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9558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5240EB0-6DD8-2797-AA9F-64192E70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E27F974E-BDF4-BFD1-B4AB-8D1FC42F9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11C63C4-9092-1973-767B-3B7FE311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B03883F1-C851-8966-A69A-5869B971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62D92A5-D2BD-6796-CAD5-D33664CE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11988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21853218-8705-CF65-9568-8424BA39B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BE3690C-51C3-CEC9-B1F1-03CAA060E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783FFDC-3BA1-2CEB-3701-68CBC466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15FB7CD-6C67-B688-66BD-C47B5D40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AB79259-0155-F13A-77BA-3FC9B472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1729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EE15E47D-1642-CFF0-F266-728B801F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C8A48700-8C7B-A295-50CB-140FC286E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D0CE4E7E-8CBB-31AB-46E4-6765FA571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3C30B-8DF2-4B96-BBAC-DC0D809964E9}" type="datetimeFigureOut">
              <a:rPr lang="hr-HR" smtClean="0"/>
              <a:t>13.11.2025.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7166C37-4EA7-0CD7-1975-C314C105B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F609E879-8BDA-E1C5-5DEA-9729BFA0E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8CE8F-825E-465C-B288-5A025466A45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423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audio" Target="../media/audio1.wav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1.gif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BF30D790-9412-F182-77B9-6BBE53AE1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75" y="-319198"/>
            <a:ext cx="8734425" cy="24003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71B6584-51D6-7D30-253A-AF4C96A2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32" y="388274"/>
            <a:ext cx="10515600" cy="1058561"/>
          </a:xfrm>
        </p:spPr>
        <p:txBody>
          <a:bodyPr/>
          <a:lstStyle/>
          <a:p>
            <a:r>
              <a:rPr lang="hr-HR" dirty="0"/>
              <a:t>Premetaljka slova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89F2427-85D1-2E91-3E4F-A759AD2FF1BF}"/>
              </a:ext>
            </a:extLst>
          </p:cNvPr>
          <p:cNvSpPr txBox="1"/>
          <p:nvPr/>
        </p:nvSpPr>
        <p:spPr>
          <a:xfrm>
            <a:off x="595132" y="1446835"/>
            <a:ext cx="57651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400" u="sng" dirty="0">
                <a:solidFill>
                  <a:schemeClr val="bg1">
                    <a:lumMod val="75000"/>
                  </a:schemeClr>
                </a:solidFill>
              </a:rPr>
              <a:t>https://</a:t>
            </a:r>
            <a:r>
              <a:rPr lang="hr-HR" sz="2400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vjeronauk.hublin.net/premetaljka/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72799419-261B-5C4D-966D-3B3348BCA623}"/>
              </a:ext>
            </a:extLst>
          </p:cNvPr>
          <p:cNvSpPr txBox="1"/>
          <p:nvPr/>
        </p:nvSpPr>
        <p:spPr>
          <a:xfrm>
            <a:off x="746761" y="2717689"/>
            <a:ext cx="14786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Zadaj riječi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2D078BD5-96AE-F52C-EBB6-BE9463563A15}"/>
              </a:ext>
            </a:extLst>
          </p:cNvPr>
          <p:cNvSpPr txBox="1"/>
          <p:nvPr/>
        </p:nvSpPr>
        <p:spPr>
          <a:xfrm>
            <a:off x="6840831" y="2717689"/>
            <a:ext cx="14786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igra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65855107-19EF-2718-9290-A5EBD3B9A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09" y="265633"/>
            <a:ext cx="1295512" cy="1181202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349EE256-DE74-734B-BDFF-B2579D53043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0831" y="3271687"/>
            <a:ext cx="4503810" cy="3116850"/>
          </a:xfrm>
          <a:prstGeom prst="rect">
            <a:avLst/>
          </a:prstGeom>
        </p:spPr>
      </p:pic>
      <p:pic>
        <p:nvPicPr>
          <p:cNvPr id="18" name="Slika 17">
            <a:extLst>
              <a:ext uri="{FF2B5EF4-FFF2-40B4-BE49-F238E27FC236}">
                <a16:creationId xmlns:a16="http://schemas.microsoft.com/office/drawing/2014/main" id="{4D033468-C288-7B8B-1A0C-AC3AF8484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1" y="3271687"/>
            <a:ext cx="5281118" cy="12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856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77C90585-D6D1-E7E8-4D9F-D2218638A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75" y="-319198"/>
            <a:ext cx="8734425" cy="24003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DE9EED05-E789-4328-4F1A-54DC8E31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21" y="434112"/>
            <a:ext cx="4292794" cy="863897"/>
          </a:xfrm>
        </p:spPr>
        <p:txBody>
          <a:bodyPr/>
          <a:lstStyle/>
          <a:p>
            <a:r>
              <a:rPr lang="hr-HR" dirty="0" err="1"/>
              <a:t>Pogađalica</a:t>
            </a:r>
            <a:r>
              <a:rPr lang="hr-HR" dirty="0"/>
              <a:t> slova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2C0685C-1167-E613-30E0-B5346830307A}"/>
              </a:ext>
            </a:extLst>
          </p:cNvPr>
          <p:cNvSpPr txBox="1"/>
          <p:nvPr/>
        </p:nvSpPr>
        <p:spPr>
          <a:xfrm>
            <a:off x="685801" y="145872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r-Latn-RS"/>
            </a:defPPr>
            <a:lvl1pPr>
              <a:defRPr sz="2400" u="sng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hr-H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vjeronauk.hublin.net/pogadjalica/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29276F96-DBB9-60DD-9704-3FA33ECC0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215" y="284446"/>
            <a:ext cx="1295512" cy="1181202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B51D3F50-5751-7EFB-D9FF-5C15ABE35031}"/>
              </a:ext>
            </a:extLst>
          </p:cNvPr>
          <p:cNvSpPr txBox="1"/>
          <p:nvPr/>
        </p:nvSpPr>
        <p:spPr>
          <a:xfrm>
            <a:off x="547959" y="2368185"/>
            <a:ext cx="14786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Pojmovi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8EBCB89D-347A-A50A-5C59-3A108CDCDF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5239"/>
          <a:stretch>
            <a:fillRect/>
          </a:stretch>
        </p:blipFill>
        <p:spPr>
          <a:xfrm>
            <a:off x="547959" y="2806098"/>
            <a:ext cx="4298361" cy="1950889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23829251-A63F-9912-39C2-9A92D374E4D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5971" y="2806098"/>
            <a:ext cx="6785069" cy="3902613"/>
          </a:xfrm>
          <a:prstGeom prst="rect">
            <a:avLst/>
          </a:prstGeom>
        </p:spPr>
      </p:pic>
      <p:sp>
        <p:nvSpPr>
          <p:cNvPr id="11" name="TekstniOkvir 10">
            <a:extLst>
              <a:ext uri="{FF2B5EF4-FFF2-40B4-BE49-F238E27FC236}">
                <a16:creationId xmlns:a16="http://schemas.microsoft.com/office/drawing/2014/main" id="{E65FE557-9221-551D-DBD1-157CA93CFFE7}"/>
              </a:ext>
            </a:extLst>
          </p:cNvPr>
          <p:cNvSpPr txBox="1"/>
          <p:nvPr/>
        </p:nvSpPr>
        <p:spPr>
          <a:xfrm>
            <a:off x="5345971" y="2368185"/>
            <a:ext cx="1478665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igra</a:t>
            </a:r>
          </a:p>
        </p:txBody>
      </p:sp>
    </p:spTree>
    <p:extLst>
      <p:ext uri="{BB962C8B-B14F-4D97-AF65-F5344CB8AC3E}">
        <p14:creationId xmlns:p14="http://schemas.microsoft.com/office/powerpoint/2010/main" val="232014826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25D28396-C142-DBAE-F56D-3699C5AF6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75" y="-319198"/>
            <a:ext cx="8734425" cy="240030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BFBD1950-73AE-2F5E-601B-7D47CDE8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/>
          </a:bodyPr>
          <a:lstStyle/>
          <a:p>
            <a:r>
              <a:rPr lang="hr-HR" dirty="0"/>
              <a:t>Detektiv Dane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03D6797-819C-331B-03FA-50819B10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470" y="1555500"/>
            <a:ext cx="6988697" cy="4931361"/>
          </a:xfrm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1200"/>
              </a:spcAft>
              <a:buNone/>
            </a:pPr>
            <a:r>
              <a:rPr lang="hr-HR" altLang="sr-Latn-RS" dirty="0">
                <a:solidFill>
                  <a:schemeClr val="accent2">
                    <a:lumMod val="75000"/>
                  </a:schemeClr>
                </a:solidFill>
              </a:rPr>
              <a:t>Pravila igre: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hr-HR" altLang="sr-Latn-RS" dirty="0">
                <a:solidFill>
                  <a:srgbClr val="000000"/>
                </a:solidFill>
              </a:rPr>
              <a:t>Vjeroučitelj na papir zapiše jedan pojam, 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hr-HR" altLang="sr-Latn-RS" dirty="0">
                <a:solidFill>
                  <a:srgbClr val="000000"/>
                </a:solidFill>
              </a:rPr>
              <a:t>a učenici pitanjima pokuša(</a:t>
            </a:r>
            <a:r>
              <a:rPr lang="hr-HR" altLang="sr-Latn-RS" dirty="0" err="1">
                <a:solidFill>
                  <a:srgbClr val="000000"/>
                </a:solidFill>
              </a:rPr>
              <a:t>va</a:t>
            </a:r>
            <a:r>
              <a:rPr lang="hr-HR" altLang="sr-Latn-RS" dirty="0">
                <a:solidFill>
                  <a:srgbClr val="000000"/>
                </a:solidFill>
              </a:rPr>
              <a:t>)ju pogoditi o čemu se radi i koji je to konkretan pojam. 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hr-HR" altLang="sr-Latn-RS" dirty="0">
                <a:solidFill>
                  <a:srgbClr val="000000"/>
                </a:solidFill>
              </a:rPr>
              <a:t>Vjeroučitelj odgovara samo sa DA ili NE. 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hr-HR" altLang="sr-Latn-RS" dirty="0">
                <a:solidFill>
                  <a:schemeClr val="bg1">
                    <a:lumMod val="65000"/>
                  </a:schemeClr>
                </a:solidFill>
              </a:rPr>
              <a:t>Pobjednik je onaj koji točno pogodi zagonetni pojam napisan na vjeroučiteljevu papiru. (Vjeroučitelj pokaže svima napisani pojam nakon što ga netko pogodi.)</a:t>
            </a:r>
          </a:p>
          <a:p>
            <a:pPr>
              <a:spcAft>
                <a:spcPts val="1200"/>
              </a:spcAft>
            </a:pPr>
            <a:endParaRPr lang="hr-HR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5DA5D05D-431F-D51E-DEAC-A8253B334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62" y="1690688"/>
            <a:ext cx="410657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1498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59951DA4-2AA9-2ED5-BDCF-E4D4879BE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3" y="-503303"/>
            <a:ext cx="8734425" cy="2400300"/>
          </a:xfrm>
          <a:prstGeom prst="rect">
            <a:avLst/>
          </a:prstGeom>
        </p:spPr>
      </p:pic>
      <p:pic>
        <p:nvPicPr>
          <p:cNvPr id="2050" name="Picture 2" descr="My Other Me Pantomima dječji kostim | ZAJEDNO">
            <a:extLst>
              <a:ext uri="{FF2B5EF4-FFF2-40B4-BE49-F238E27FC236}">
                <a16:creationId xmlns:a16="http://schemas.microsoft.com/office/drawing/2014/main" id="{A6CA4C02-7E42-17E9-3705-3B39E6E1C1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5" r="25639"/>
          <a:stretch>
            <a:fillRect/>
          </a:stretch>
        </p:blipFill>
        <p:spPr bwMode="auto">
          <a:xfrm>
            <a:off x="8833239" y="272527"/>
            <a:ext cx="3166989" cy="649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6F3A44F-DCE8-6C40-43C7-8D8D763D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28" y="229561"/>
            <a:ext cx="10515600" cy="977538"/>
          </a:xfrm>
        </p:spPr>
        <p:txBody>
          <a:bodyPr/>
          <a:lstStyle/>
          <a:p>
            <a:r>
              <a:rPr lang="hr-HR" dirty="0"/>
              <a:t>Pantomima</a:t>
            </a:r>
          </a:p>
        </p:txBody>
      </p:sp>
      <p:sp>
        <p:nvSpPr>
          <p:cNvPr id="4" name="TekstniOkvir 1">
            <a:extLst>
              <a:ext uri="{FF2B5EF4-FFF2-40B4-BE49-F238E27FC236}">
                <a16:creationId xmlns:a16="http://schemas.microsoft.com/office/drawing/2014/main" id="{303E31C8-A703-7D58-FCB4-A7CF5884C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28" y="1164133"/>
            <a:ext cx="8749738" cy="52937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Tko 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je pantomimičar? (Tko pokazuje?)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Učitelj postavi jedno vjeronaučno pitanje i tko prvi odgovori taj je "pantomimičar".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r-HR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Pantomimičar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od učitelja dobije zadatak da pred razredom </a:t>
            </a:r>
            <a:b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samo 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gestama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(mimikom) 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razredu objasni 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 zadanom zagonetnom pojmu, ali ne smije ništa govoriti niti pokazivati slova ili brojeve.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r-HR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lvl="0"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Učenici </a:t>
            </a:r>
            <a:r>
              <a:rPr lang="hr-HR" sz="2600" dirty="0">
                <a:solidFill>
                  <a:srgbClr val="000000"/>
                </a:solidFill>
              </a:rPr>
              <a:t>u razredu 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2D2D8A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pogađaju</a:t>
            </a: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Tko prvi u razredu pogodi o čemu se radi dobije +, a i pantomimičar dobije +.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r-HR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Vrijeme je ograničeno na 1 minutu.</a:t>
            </a:r>
          </a:p>
        </p:txBody>
      </p:sp>
    </p:spTree>
    <p:extLst>
      <p:ext uri="{BB962C8B-B14F-4D97-AF65-F5344CB8AC3E}">
        <p14:creationId xmlns:p14="http://schemas.microsoft.com/office/powerpoint/2010/main" val="9133138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DBB24B29-51FE-73BC-B7C7-8CE9C7BAE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3" y="-503303"/>
            <a:ext cx="8734425" cy="2400300"/>
          </a:xfrm>
          <a:prstGeom prst="rect">
            <a:avLst/>
          </a:prstGeom>
        </p:spPr>
      </p:pic>
      <p:pic>
        <p:nvPicPr>
          <p:cNvPr id="32770" name="Picture 4" descr="http://www.bellesprintables.com/FreeTemplates/ClockFaceTemplate_Belle.jpg">
            <a:extLst>
              <a:ext uri="{FF2B5EF4-FFF2-40B4-BE49-F238E27FC236}">
                <a16:creationId xmlns:a16="http://schemas.microsoft.com/office/drawing/2014/main" id="{AA2CD99C-3EE9-4628-B6F2-D418DCA23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5" t="4234" r="18082" b="12941"/>
          <a:stretch>
            <a:fillRect/>
          </a:stretch>
        </p:blipFill>
        <p:spPr bwMode="auto">
          <a:xfrm>
            <a:off x="2667001" y="22223"/>
            <a:ext cx="67992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orta 3">
            <a:extLst>
              <a:ext uri="{FF2B5EF4-FFF2-40B4-BE49-F238E27FC236}">
                <a16:creationId xmlns:a16="http://schemas.microsoft.com/office/drawing/2014/main" id="{1F45AA7E-E53B-433B-85B1-B260D3EC422D}"/>
              </a:ext>
            </a:extLst>
          </p:cNvPr>
          <p:cNvSpPr/>
          <p:nvPr/>
        </p:nvSpPr>
        <p:spPr>
          <a:xfrm rot="5400000">
            <a:off x="2856375" y="172042"/>
            <a:ext cx="6523037" cy="6502400"/>
          </a:xfrm>
          <a:prstGeom prst="pie">
            <a:avLst>
              <a:gd name="adj1" fmla="val 10770365"/>
              <a:gd name="adj2" fmla="val 12855175"/>
            </a:avLst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orta 4">
            <a:extLst>
              <a:ext uri="{FF2B5EF4-FFF2-40B4-BE49-F238E27FC236}">
                <a16:creationId xmlns:a16="http://schemas.microsoft.com/office/drawing/2014/main" id="{11312FBB-706C-461E-A229-76AF752FD9B0}"/>
              </a:ext>
            </a:extLst>
          </p:cNvPr>
          <p:cNvSpPr/>
          <p:nvPr/>
        </p:nvSpPr>
        <p:spPr>
          <a:xfrm rot="7461270">
            <a:off x="2833688" y="177799"/>
            <a:ext cx="6524625" cy="6502400"/>
          </a:xfrm>
          <a:prstGeom prst="pie">
            <a:avLst>
              <a:gd name="adj1" fmla="val 10770365"/>
              <a:gd name="adj2" fmla="val 12469327"/>
            </a:avLst>
          </a:prstGeom>
          <a:solidFill>
            <a:srgbClr val="70AC2E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orta 5">
            <a:extLst>
              <a:ext uri="{FF2B5EF4-FFF2-40B4-BE49-F238E27FC236}">
                <a16:creationId xmlns:a16="http://schemas.microsoft.com/office/drawing/2014/main" id="{0DA92446-845E-479B-982D-B614A9E9FCEC}"/>
              </a:ext>
            </a:extLst>
          </p:cNvPr>
          <p:cNvSpPr/>
          <p:nvPr/>
        </p:nvSpPr>
        <p:spPr>
          <a:xfrm rot="9187798">
            <a:off x="2809876" y="188911"/>
            <a:ext cx="6524625" cy="6502400"/>
          </a:xfrm>
          <a:prstGeom prst="pie">
            <a:avLst>
              <a:gd name="adj1" fmla="val 10770365"/>
              <a:gd name="adj2" fmla="val 12410598"/>
            </a:avLst>
          </a:prstGeom>
          <a:solidFill>
            <a:srgbClr val="69A12B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orta 6">
            <a:extLst>
              <a:ext uri="{FF2B5EF4-FFF2-40B4-BE49-F238E27FC236}">
                <a16:creationId xmlns:a16="http://schemas.microsoft.com/office/drawing/2014/main" id="{D65396F6-DF7D-456B-A553-DA013AA3691A}"/>
              </a:ext>
            </a:extLst>
          </p:cNvPr>
          <p:cNvSpPr/>
          <p:nvPr/>
        </p:nvSpPr>
        <p:spPr>
          <a:xfrm rot="10800000">
            <a:off x="2805114" y="193673"/>
            <a:ext cx="6523037" cy="6502400"/>
          </a:xfrm>
          <a:prstGeom prst="pie">
            <a:avLst>
              <a:gd name="adj1" fmla="val 10770365"/>
              <a:gd name="adj2" fmla="val 12598097"/>
            </a:avLst>
          </a:prstGeom>
          <a:solidFill>
            <a:srgbClr val="AFB238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orta 7">
            <a:extLst>
              <a:ext uri="{FF2B5EF4-FFF2-40B4-BE49-F238E27FC236}">
                <a16:creationId xmlns:a16="http://schemas.microsoft.com/office/drawing/2014/main" id="{BA6875A6-EFB3-4431-A096-18E629BB0678}"/>
              </a:ext>
            </a:extLst>
          </p:cNvPr>
          <p:cNvSpPr/>
          <p:nvPr/>
        </p:nvSpPr>
        <p:spPr>
          <a:xfrm rot="12574335">
            <a:off x="2813050" y="215898"/>
            <a:ext cx="6523038" cy="6502400"/>
          </a:xfrm>
          <a:prstGeom prst="pie">
            <a:avLst>
              <a:gd name="adj1" fmla="val 10770365"/>
              <a:gd name="adj2" fmla="val 12589366"/>
            </a:avLst>
          </a:prstGeom>
          <a:solidFill>
            <a:srgbClr val="C5D14F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orta 8">
            <a:extLst>
              <a:ext uri="{FF2B5EF4-FFF2-40B4-BE49-F238E27FC236}">
                <a16:creationId xmlns:a16="http://schemas.microsoft.com/office/drawing/2014/main" id="{D5D8BD8C-C39C-43CB-BCE9-083668D8C732}"/>
              </a:ext>
            </a:extLst>
          </p:cNvPr>
          <p:cNvSpPr/>
          <p:nvPr/>
        </p:nvSpPr>
        <p:spPr>
          <a:xfrm rot="14367647">
            <a:off x="2790826" y="223836"/>
            <a:ext cx="6524625" cy="6502400"/>
          </a:xfrm>
          <a:prstGeom prst="pie">
            <a:avLst>
              <a:gd name="adj1" fmla="val 10770365"/>
              <a:gd name="adj2" fmla="val 12611479"/>
            </a:avLst>
          </a:prstGeom>
          <a:solidFill>
            <a:srgbClr val="DCD144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orta 16">
            <a:extLst>
              <a:ext uri="{FF2B5EF4-FFF2-40B4-BE49-F238E27FC236}">
                <a16:creationId xmlns:a16="http://schemas.microsoft.com/office/drawing/2014/main" id="{3D215851-7DA0-4A89-8D87-4F4708C47B84}"/>
              </a:ext>
            </a:extLst>
          </p:cNvPr>
          <p:cNvSpPr/>
          <p:nvPr/>
        </p:nvSpPr>
        <p:spPr>
          <a:xfrm rot="16200000" flipH="1">
            <a:off x="2809081" y="191292"/>
            <a:ext cx="6523038" cy="6502400"/>
          </a:xfrm>
          <a:prstGeom prst="pie">
            <a:avLst>
              <a:gd name="adj1" fmla="val 10770365"/>
              <a:gd name="adj2" fmla="val 12855175"/>
            </a:avLst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orta 17">
            <a:extLst>
              <a:ext uri="{FF2B5EF4-FFF2-40B4-BE49-F238E27FC236}">
                <a16:creationId xmlns:a16="http://schemas.microsoft.com/office/drawing/2014/main" id="{56B8C719-182A-4094-87BF-E2EE9EA6546E}"/>
              </a:ext>
            </a:extLst>
          </p:cNvPr>
          <p:cNvSpPr/>
          <p:nvPr/>
        </p:nvSpPr>
        <p:spPr>
          <a:xfrm rot="14138730" flipH="1">
            <a:off x="2826545" y="164305"/>
            <a:ext cx="6523037" cy="6502400"/>
          </a:xfrm>
          <a:prstGeom prst="pie">
            <a:avLst>
              <a:gd name="adj1" fmla="val 10770365"/>
              <a:gd name="adj2" fmla="val 12517190"/>
            </a:avLst>
          </a:prstGeom>
          <a:solidFill>
            <a:srgbClr val="F26B2E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orta 18">
            <a:extLst>
              <a:ext uri="{FF2B5EF4-FFF2-40B4-BE49-F238E27FC236}">
                <a16:creationId xmlns:a16="http://schemas.microsoft.com/office/drawing/2014/main" id="{2066C20E-BC2E-418C-9EE1-609EFCF621E6}"/>
              </a:ext>
            </a:extLst>
          </p:cNvPr>
          <p:cNvSpPr/>
          <p:nvPr/>
        </p:nvSpPr>
        <p:spPr>
          <a:xfrm rot="12412202" flipH="1">
            <a:off x="2803525" y="176211"/>
            <a:ext cx="6523038" cy="6502400"/>
          </a:xfrm>
          <a:prstGeom prst="pie">
            <a:avLst>
              <a:gd name="adj1" fmla="val 10770365"/>
              <a:gd name="adj2" fmla="val 12410598"/>
            </a:avLst>
          </a:prstGeom>
          <a:solidFill>
            <a:srgbClr val="EB8F15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orta 19">
            <a:extLst>
              <a:ext uri="{FF2B5EF4-FFF2-40B4-BE49-F238E27FC236}">
                <a16:creationId xmlns:a16="http://schemas.microsoft.com/office/drawing/2014/main" id="{858F8B6B-BC6A-42EF-A83A-1E578B680618}"/>
              </a:ext>
            </a:extLst>
          </p:cNvPr>
          <p:cNvSpPr/>
          <p:nvPr/>
        </p:nvSpPr>
        <p:spPr>
          <a:xfrm rot="10800000" flipH="1">
            <a:off x="2797176" y="179386"/>
            <a:ext cx="6524625" cy="6502400"/>
          </a:xfrm>
          <a:prstGeom prst="pie">
            <a:avLst>
              <a:gd name="adj1" fmla="val 10770365"/>
              <a:gd name="adj2" fmla="val 12598097"/>
            </a:avLst>
          </a:prstGeom>
          <a:solidFill>
            <a:srgbClr val="F7F22E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orta 20">
            <a:extLst>
              <a:ext uri="{FF2B5EF4-FFF2-40B4-BE49-F238E27FC236}">
                <a16:creationId xmlns:a16="http://schemas.microsoft.com/office/drawing/2014/main" id="{3303AEBE-C364-4393-86B9-BE2E4791724F}"/>
              </a:ext>
            </a:extLst>
          </p:cNvPr>
          <p:cNvSpPr/>
          <p:nvPr/>
        </p:nvSpPr>
        <p:spPr>
          <a:xfrm rot="9025665" flipH="1">
            <a:off x="2805114" y="203198"/>
            <a:ext cx="6524625" cy="6502400"/>
          </a:xfrm>
          <a:prstGeom prst="pie">
            <a:avLst>
              <a:gd name="adj1" fmla="val 10770365"/>
              <a:gd name="adj2" fmla="val 12589366"/>
            </a:avLst>
          </a:prstGeom>
          <a:solidFill>
            <a:srgbClr val="EFEB35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orta 21">
            <a:extLst>
              <a:ext uri="{FF2B5EF4-FFF2-40B4-BE49-F238E27FC236}">
                <a16:creationId xmlns:a16="http://schemas.microsoft.com/office/drawing/2014/main" id="{C90B727E-9030-45B6-853C-2DB9DBC5C939}"/>
              </a:ext>
            </a:extLst>
          </p:cNvPr>
          <p:cNvSpPr/>
          <p:nvPr/>
        </p:nvSpPr>
        <p:spPr>
          <a:xfrm rot="7232353" flipH="1">
            <a:off x="2783681" y="210342"/>
            <a:ext cx="6523038" cy="6502400"/>
          </a:xfrm>
          <a:prstGeom prst="pie">
            <a:avLst>
              <a:gd name="adj1" fmla="val 10770365"/>
              <a:gd name="adj2" fmla="val 12626772"/>
            </a:avLst>
          </a:prstGeom>
          <a:solidFill>
            <a:srgbClr val="DBE739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hr-H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Picture 2" descr="http://www.cksinfo.com/clipart/household/clocks/alarm-clock.png">
            <a:extLst>
              <a:ext uri="{FF2B5EF4-FFF2-40B4-BE49-F238E27FC236}">
                <a16:creationId xmlns:a16="http://schemas.microsoft.com/office/drawing/2014/main" id="{76686694-6B6A-4B04-8722-0D1022C90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051" y="4187824"/>
            <a:ext cx="1903413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Slika 2" descr="Slika na kojoj se prikazuje krug, grafika, električno plava, logotip&#10;&#10;Sadržaj generiran uz AI možda nije točan.">
            <a:extLst>
              <a:ext uri="{FF2B5EF4-FFF2-40B4-BE49-F238E27FC236}">
                <a16:creationId xmlns:a16="http://schemas.microsoft.com/office/drawing/2014/main" id="{5B4CFA69-A205-C194-88DA-21D92E4FD92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566" y="771536"/>
            <a:ext cx="792437" cy="774982"/>
          </a:xfrm>
          <a:prstGeom prst="rect">
            <a:avLst/>
          </a:prstGeom>
        </p:spPr>
      </p:pic>
      <p:sp>
        <p:nvSpPr>
          <p:cNvPr id="10" name="TekstniOkvir 9">
            <a:extLst>
              <a:ext uri="{FF2B5EF4-FFF2-40B4-BE49-F238E27FC236}">
                <a16:creationId xmlns:a16="http://schemas.microsoft.com/office/drawing/2014/main" id="{232F3726-2A6B-2DA6-4520-1EEA7BA73719}"/>
              </a:ext>
            </a:extLst>
          </p:cNvPr>
          <p:cNvSpPr txBox="1"/>
          <p:nvPr/>
        </p:nvSpPr>
        <p:spPr>
          <a:xfrm>
            <a:off x="7948966" y="384197"/>
            <a:ext cx="2206897" cy="378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rgbClr val="FF0000"/>
                </a:solidFill>
              </a:rPr>
              <a:t>Klikni za početak!</a:t>
            </a:r>
          </a:p>
        </p:txBody>
      </p:sp>
      <p:pic>
        <p:nvPicPr>
          <p:cNvPr id="12" name="Slika 11">
            <a:extLst>
              <a:ext uri="{FF2B5EF4-FFF2-40B4-BE49-F238E27FC236}">
                <a16:creationId xmlns:a16="http://schemas.microsoft.com/office/drawing/2014/main" id="{2B5EEF16-0B5E-4926-D630-A33B18AE0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754" y="2421924"/>
            <a:ext cx="2067213" cy="4296375"/>
          </a:xfrm>
          <a:prstGeom prst="rect">
            <a:avLst/>
          </a:prstGeom>
        </p:spPr>
      </p:pic>
      <p:pic>
        <p:nvPicPr>
          <p:cNvPr id="14" name="Slika 13">
            <a:extLst>
              <a:ext uri="{FF2B5EF4-FFF2-40B4-BE49-F238E27FC236}">
                <a16:creationId xmlns:a16="http://schemas.microsoft.com/office/drawing/2014/main" id="{89ABCABC-E6D4-9A21-EDCC-82D63463F9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460" y="2512542"/>
            <a:ext cx="2095792" cy="4334480"/>
          </a:xfrm>
          <a:prstGeom prst="rect">
            <a:avLst/>
          </a:prstGeom>
        </p:spPr>
      </p:pic>
      <p:pic>
        <p:nvPicPr>
          <p:cNvPr id="16" name="Slika 15">
            <a:extLst>
              <a:ext uri="{FF2B5EF4-FFF2-40B4-BE49-F238E27FC236}">
                <a16:creationId xmlns:a16="http://schemas.microsoft.com/office/drawing/2014/main" id="{6049F670-25E0-6D6F-544E-79781D9BBE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069" y="3588170"/>
            <a:ext cx="2313958" cy="3194491"/>
          </a:xfrm>
          <a:prstGeom prst="rect">
            <a:avLst/>
          </a:prstGeom>
        </p:spPr>
      </p:pic>
      <p:pic>
        <p:nvPicPr>
          <p:cNvPr id="24" name="Slika 23">
            <a:extLst>
              <a:ext uri="{FF2B5EF4-FFF2-40B4-BE49-F238E27FC236}">
                <a16:creationId xmlns:a16="http://schemas.microsoft.com/office/drawing/2014/main" id="{106D0A40-2AB0-525C-185B-918C4AD903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151005"/>
            <a:ext cx="2836414" cy="2618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9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9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4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9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4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9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64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4500"/>
                            </p:stCondLst>
                            <p:childTnLst>
                              <p:par>
                                <p:cTn id="75" presetID="0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7.40741E-7 C -0.00365 0.00741 -0.00638 0.00972 -0.01263 0.0125 C -0.01263 0.01273 -0.0142 0.00393 -0.01576 7.40741E-7 C -0.01654 -0.00185 -0.0181 -0.00301 -0.01914 -0.0044 C -0.01341 -0.01157 -0.00573 -0.01157 0.00156 -0.01482 C -0.00378 -0.0007 -0.00612 0.00301 0.00468 0.0125 C 0.03489 0.00694 -0.0069 0.00764 -0.0142 0.00625 C -0.01146 -0.00509 -0.00951 -0.00278 -0.00157 7.40741E-7 C -0.00209 -0.00278 -0.00261 -0.00579 -0.00313 -0.00857 C -0.00482 -0.01667 -0.00664 -0.01574 2.70833E-6 -0.01273 C -0.00352 -0.00579 -0.00521 -0.00301 -0.01107 7.40741E-7 C -0.01211 -0.00208 -0.01302 -0.0044 -0.0142 -0.00648 C -0.01511 -0.0081 -0.01654 -0.01204 -0.01758 -0.01065 C -0.01992 -0.00741 -0.02071 0.00208 -0.02071 0.00231 C -0.02123 -0.00579 -0.02136 -0.01366 -0.02227 -0.0213 C -0.0224 -0.02338 -0.02409 -0.02963 -0.02383 -0.02755 C -0.02201 -0.01343 -0.02149 -0.01227 -0.01914 -0.00232 C -0.01459 -0.0081 -0.01393 -0.01574 -0.01107 -0.02338 C -0.01055 -0.0206 -0.01159 -0.01574 -0.00951 -0.01482 C -0.00795 -0.01412 -0.00482 -0.02662 -0.00469 -0.02755 C -0.00469 -0.02708 -0.00456 -0.01088 0.00156 -0.01482 C 0.00312 -0.01574 0.0026 -0.01921 0.00312 -0.0213 C 0.00612 -0.00509 0.00208 -0.01574 0.0095 -0.01713 C 0.01159 -0.01759 0.01367 -0.01551 0.01575 -0.01482 C 0.01627 -0.01273 0.01627 -0.01019 0.01758 -0.00857 C 0.01927 -0.00648 0.02409 -0.00741 0.02383 -0.0044 C 0.02239 0.00671 0.01041 0.00787 0.00468 0.01042 C 0.00364 0.0118 0.00312 0.01458 0.00156 0.01481 C -0.00209 0.01528 -0.00586 0.01296 -0.00951 0.0125 C -0.01602 0.01157 -0.02227 0.01111 -0.02865 0.01042 C -0.0431 0.00393 -0.04128 0.00671 -0.02227 0.00417 C -0.01563 -0.00116 -0.00951 -0.00718 -0.00313 -0.01273 C -0.00365 -0.01551 -0.00274 -0.02014 -0.00469 -0.0213 C -0.00625 -0.02222 -0.00482 -0.01389 -0.00638 -0.01482 C -0.00834 -0.01597 -0.00716 -0.0206 -0.00795 -0.02338 C -0.00951 -0.02824 -0.01315 -0.03264 -0.01576 -0.03611 C -0.01159 -0.01898 2.70833E-6 -0.02917 0.00794 -0.03611 C 0.01028 -0.02384 0.01302 -0.02361 0.0207 -0.01713 C 0.02018 -0.01921 0.0207 -0.02292 0.01914 -0.02338 C 0.01718 -0.02384 0.00976 -0.01644 0.00794 -0.01482 C -0.00209 0.00417 0.02669 -0.00602 0.03177 -0.00648 C 0.01862 -0.00232 0.01875 -0.00255 0.00156 -0.0044 C 0.00208 -0.00093 0.00208 0.00301 0.00312 0.00625 C 0.00364 0.0081 0.00586 0.01227 0.00638 0.01042 C 0.00729 0.00694 0.00573 0.00324 0.00468 7.40741E-7 C 0.00403 -0.00232 -0.00638 -0.01713 -0.00638 -0.0169 C -0.00638 -0.01945 -0.00313 -0.01551 -0.00157 -0.01482 C -0.00104 -0.01759 -0.00052 -0.0206 2.70833E-6 -0.02338 C 0.00052 -0.02685 -0.00104 -0.03357 0.00156 -0.03403 C 0.00534 -0.03472 0.01107 -0.02546 0.01107 -0.02523 C 0.0151 -0.04213 0.00534 -0.03495 -0.00157 -0.03195 C -0.00222 -0.03125 -0.01042 -0.02593 -0.00795 -0.0213 C -0.00573 -0.01713 0.00156 -0.01273 0.00156 -0.0125 C 0.00468 -0.01343 0.00885 -0.01181 0.01107 -0.01482 C 0.01758 -0.02338 0.00052 -0.02662 -0.00157 -0.02755 C -0.00782 -0.01945 -0.00938 -0.0169 2.70833E-6 -0.01273 C -0.00365 -0.01204 -0.00742 -0.01204 -0.01107 -0.01065 C -0.01289 -0.00995 -0.01576 -0.00903 -0.01576 -0.00648 C -0.01576 -0.0044 -0.01263 -0.00509 -0.01107 -0.0044 C -0.00404 -0.00556 0.01185 -0.00278 0.00156 -0.01713 C -0.01354 -0.01157 0.00013 -0.01945 -0.00157 -0.00857 C -0.00196 -0.00602 -0.00482 -0.00579 -0.00638 -0.0044 C -0.00091 0.00301 -0.00313 -0.00208 -0.00313 0.0125 " pathEditMode="relative" rAng="0" ptsTypes="AAAAAAAAAAAAAAAAAAAAAAAAAAAAAAAAAAAAAAAAAAAAAAAAAAAAAAAAAAAAAAA">
                                      <p:cBhvr>
                                        <p:cTn id="7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-1065"/>
                                    </p:animMotion>
                                  </p:childTnLst>
                                  <p:subTnLst>
                                    <p:audio>
                                      <p:cMediaNode vol="19000"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udilic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1F5BBAE4-7254-45F3-80F0-3059C6846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3" y="-503303"/>
            <a:ext cx="8734425" cy="2400300"/>
          </a:xfrm>
          <a:prstGeom prst="rect">
            <a:avLst/>
          </a:prstGeom>
        </p:spPr>
      </p:pic>
      <p:pic>
        <p:nvPicPr>
          <p:cNvPr id="3074" name="Picture 2" descr="http://www.thegamegal.com/wp-content/uploads/2010/11/pictionary.jpg">
            <a:extLst>
              <a:ext uri="{FF2B5EF4-FFF2-40B4-BE49-F238E27FC236}">
                <a16:creationId xmlns:a16="http://schemas.microsoft.com/office/drawing/2014/main" id="{2432F189-BF27-01E9-889E-DA549B1F4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166" y="119063"/>
            <a:ext cx="3019425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odnaslov 2">
            <a:extLst>
              <a:ext uri="{FF2B5EF4-FFF2-40B4-BE49-F238E27FC236}">
                <a16:creationId xmlns:a16="http://schemas.microsoft.com/office/drawing/2014/main" id="{154B6970-7829-23DA-9FEB-F1E0C0A14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9314" y="2492657"/>
            <a:ext cx="3087687" cy="5524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hr-HR" sz="2000" dirty="0"/>
              <a:t>Poput igre </a:t>
            </a:r>
            <a:r>
              <a:rPr lang="hr-HR" sz="2000" dirty="0" err="1"/>
              <a:t>Pictionary</a:t>
            </a:r>
            <a:endParaRPr lang="hr-HR" sz="2000" dirty="0"/>
          </a:p>
        </p:txBody>
      </p:sp>
      <p:sp>
        <p:nvSpPr>
          <p:cNvPr id="3077" name="TekstniOkvir 3">
            <a:extLst>
              <a:ext uri="{FF2B5EF4-FFF2-40B4-BE49-F238E27FC236}">
                <a16:creationId xmlns:a16="http://schemas.microsoft.com/office/drawing/2014/main" id="{02773E91-E2BC-B362-5103-D1FE230DE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83" y="3452813"/>
            <a:ext cx="1108854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r-HR" altLang="sr-Latn-RS" sz="2800" dirty="0"/>
              <a:t>Jedan učenik na ploči u 45 sekundi treba objasniti razredu zagonetni pojam iz gradiva (koji mu zada učitelj). Taj učenik "crtač" smije samo crtati ali ne smije pisati, govoriti ili pokazivati slova i brojeve. </a:t>
            </a:r>
            <a:r>
              <a:rPr lang="hr-HR" altLang="sr-Latn-RS" sz="2800" dirty="0">
                <a:solidFill>
                  <a:schemeClr val="bg1">
                    <a:lumMod val="65000"/>
                  </a:schemeClr>
                </a:solidFill>
              </a:rPr>
              <a:t>Učenik "crtač" pokazuje na učenike iz razreda (koji mu se dizanjem ruke javljaju) da čuje od njih točan odgovor koji se krije u crtežu. Ako netko iz razreda u zadanom roku uspije odgonetnuti zagonetni pojam, onda i taj učenik koji je pogodio ali i crtač dobiju po +.</a:t>
            </a:r>
          </a:p>
        </p:txBody>
      </p:sp>
      <p:sp>
        <p:nvSpPr>
          <p:cNvPr id="6" name="Naslov 1">
            <a:extLst>
              <a:ext uri="{FF2B5EF4-FFF2-40B4-BE49-F238E27FC236}">
                <a16:creationId xmlns:a16="http://schemas.microsoft.com/office/drawing/2014/main" id="{FDE05631-8A9B-4C2E-82E1-91380105451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6222357" cy="1915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err="1"/>
              <a:t>Pogađalica</a:t>
            </a:r>
            <a:r>
              <a:rPr lang="hr-HR" dirty="0"/>
              <a:t> slika </a:t>
            </a:r>
            <a:r>
              <a:rPr lang="hr-HR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hr-HR" dirty="0" err="1">
                <a:solidFill>
                  <a:schemeClr val="bg1">
                    <a:lumMod val="75000"/>
                  </a:schemeClr>
                </a:solidFill>
              </a:rPr>
              <a:t>Pictionary</a:t>
            </a:r>
            <a:r>
              <a:rPr lang="hr-HR" dirty="0">
                <a:solidFill>
                  <a:schemeClr val="bg1">
                    <a:lumMod val="75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B43904-007B-483E-5120-97C39ED85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313" y="34290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hr-HR" dirty="0">
                <a:solidFill>
                  <a:schemeClr val="bg1">
                    <a:lumMod val="65000"/>
                  </a:schemeClr>
                </a:solidFill>
              </a:rPr>
              <a:t>Pripremite </a:t>
            </a:r>
            <a:r>
              <a:rPr lang="hr-HR" dirty="0" err="1">
                <a:solidFill>
                  <a:schemeClr val="bg1">
                    <a:lumMod val="65000"/>
                  </a:schemeClr>
                </a:solidFill>
              </a:rPr>
              <a:t>se..</a:t>
            </a:r>
            <a:r>
              <a:rPr lang="hr-HR" dirty="0">
                <a:solidFill>
                  <a:schemeClr val="bg1">
                    <a:lumMod val="65000"/>
                  </a:schemeClr>
                </a:solidFill>
              </a:rPr>
              <a:t>.!</a:t>
            </a:r>
          </a:p>
        </p:txBody>
      </p:sp>
      <p:pic>
        <p:nvPicPr>
          <p:cNvPr id="3" name="Slika 2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FCDBBB1A-52B3-58E7-B62D-B911E6F2C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3" y="-503303"/>
            <a:ext cx="8734425" cy="240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ka 1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62D838C1-0ACB-3A4F-0374-661B431E1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3" y="-503303"/>
            <a:ext cx="8734425" cy="2400300"/>
          </a:xfrm>
          <a:prstGeom prst="rect">
            <a:avLst/>
          </a:prstGeom>
        </p:spPr>
      </p:pic>
      <p:sp>
        <p:nvSpPr>
          <p:cNvPr id="4" name="Elipsa 3">
            <a:extLst>
              <a:ext uri="{FF2B5EF4-FFF2-40B4-BE49-F238E27FC236}">
                <a16:creationId xmlns:a16="http://schemas.microsoft.com/office/drawing/2014/main" id="{E20B909B-13D0-6E04-866D-7A4E840907DB}"/>
              </a:ext>
            </a:extLst>
          </p:cNvPr>
          <p:cNvSpPr/>
          <p:nvPr/>
        </p:nvSpPr>
        <p:spPr>
          <a:xfrm>
            <a:off x="8040689" y="442911"/>
            <a:ext cx="2232025" cy="22320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hr-HR"/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E13D8705-692A-BD90-A434-2760C7C7E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781" y="2586830"/>
            <a:ext cx="6121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r-HR" altLang="sr-Latn-RS">
                <a:solidFill>
                  <a:schemeClr val="bg1"/>
                </a:solidFill>
              </a:rPr>
              <a:t>Probajte pogoditi što je nacrtano!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2EC7DE96-D5A6-6112-8882-BDD5EC90C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656" y="2632868"/>
            <a:ext cx="6121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r-HR" altLang="sr-Latn-RS">
                <a:solidFill>
                  <a:schemeClr val="bg1"/>
                </a:solidFill>
              </a:rPr>
              <a:t>Tko zna, neka se javi podizanjem ruke! (Crtač će prozvati nekoga.)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ABA4D4D0-A9D3-22A6-D9F5-B0CCC6065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6" y="2643981"/>
            <a:ext cx="61214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r-HR" altLang="sr-Latn-RS">
                <a:solidFill>
                  <a:schemeClr val="bg1"/>
                </a:solidFill>
              </a:rPr>
              <a:t>Imate 45 sekundi za crtanje i pogađanje!</a:t>
            </a:r>
          </a:p>
        </p:txBody>
      </p:sp>
      <p:sp>
        <p:nvSpPr>
          <p:cNvPr id="9" name="TekstniOkvir 8">
            <a:extLst>
              <a:ext uri="{FF2B5EF4-FFF2-40B4-BE49-F238E27FC236}">
                <a16:creationId xmlns:a16="http://schemas.microsoft.com/office/drawing/2014/main" id="{888393E0-B09C-668E-BA7D-4595416B7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06" y="2643981"/>
            <a:ext cx="611981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r-HR" altLang="sr-Latn-RS">
                <a:solidFill>
                  <a:schemeClr val="bg1"/>
                </a:solidFill>
              </a:rPr>
              <a:t>Ako netko pogodi zagonetni pojam, onda i crtač i onaj koji je pogodio dobiju po +!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DB1F5ADF-01D1-1E9C-A77B-741D48A09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9" y="2744789"/>
            <a:ext cx="248443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hr-HR" altLang="sr-Latn-RS">
                <a:solidFill>
                  <a:schemeClr val="bg1"/>
                </a:solidFill>
              </a:rPr>
              <a:t>^ Ovaj sat pokazuje koliko je još preostalo vremena.</a:t>
            </a:r>
          </a:p>
        </p:txBody>
      </p:sp>
      <p:sp>
        <p:nvSpPr>
          <p:cNvPr id="3" name="Elipsa 2">
            <a:extLst>
              <a:ext uri="{FF2B5EF4-FFF2-40B4-BE49-F238E27FC236}">
                <a16:creationId xmlns:a16="http://schemas.microsoft.com/office/drawing/2014/main" id="{E0836E7E-A56A-3356-DF42-85E0AD81C47C}"/>
              </a:ext>
            </a:extLst>
          </p:cNvPr>
          <p:cNvSpPr/>
          <p:nvPr/>
        </p:nvSpPr>
        <p:spPr>
          <a:xfrm>
            <a:off x="9093201" y="485776"/>
            <a:ext cx="125413" cy="125413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hr-HR"/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6FDC84C6-113E-8288-CE57-652EDBC3EB78}"/>
              </a:ext>
            </a:extLst>
          </p:cNvPr>
          <p:cNvGrpSpPr>
            <a:grpSpLocks/>
          </p:cNvGrpSpPr>
          <p:nvPr/>
        </p:nvGrpSpPr>
        <p:grpSpPr bwMode="auto">
          <a:xfrm>
            <a:off x="7310439" y="-168274"/>
            <a:ext cx="3816350" cy="3816350"/>
            <a:chOff x="1379218" y="2348880"/>
            <a:chExt cx="3816424" cy="3816424"/>
          </a:xfrm>
        </p:grpSpPr>
        <p:sp>
          <p:nvSpPr>
            <p:cNvPr id="5" name="Križ 4">
              <a:extLst>
                <a:ext uri="{FF2B5EF4-FFF2-40B4-BE49-F238E27FC236}">
                  <a16:creationId xmlns:a16="http://schemas.microsoft.com/office/drawing/2014/main" id="{15ADBC8F-A83E-31D9-7711-1FF66C0CC01D}"/>
                </a:ext>
              </a:extLst>
            </p:cNvPr>
            <p:cNvSpPr/>
            <p:nvPr/>
          </p:nvSpPr>
          <p:spPr>
            <a:xfrm rot="18955900">
              <a:off x="1379218" y="2348880"/>
              <a:ext cx="3816424" cy="3816424"/>
            </a:xfrm>
            <a:prstGeom prst="plus">
              <a:avLst>
                <a:gd name="adj" fmla="val 4247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hr-HR"/>
            </a:p>
          </p:txBody>
        </p:sp>
        <p:sp>
          <p:nvSpPr>
            <p:cNvPr id="6155" name="TekstniOkvir 10">
              <a:extLst>
                <a:ext uri="{FF2B5EF4-FFF2-40B4-BE49-F238E27FC236}">
                  <a16:creationId xmlns:a16="http://schemas.microsoft.com/office/drawing/2014/main" id="{BF1788DB-E29D-ADC2-F591-65E69ACB7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7370" y="3760321"/>
              <a:ext cx="10801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hr-HR" altLang="sr-Latn-RS" sz="2800" b="1">
                  <a:solidFill>
                    <a:srgbClr val="FF0000"/>
                  </a:solidFill>
                </a:rPr>
                <a:t>KRAJ!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0.01528 C 0.05065 -0.01528 0.0918 0.05718 0.0918 0.14699 C 0.0918 0.23704 0.05065 0.31019 -1.45833E-6 0.31019 C -0.05052 0.31019 -0.09127 0.23704 -0.09127 0.14699 C -0.09127 0.05718 -0.05052 -0.01528 -1.45833E-6 -0.01528 Z " pathEditMode="relative" rAng="0" ptsTypes="AAAAA">
                                      <p:cBhvr>
                                        <p:cTn id="6" dur="4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627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10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36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0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4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6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548D7416-2A8D-EF22-05E4-E88812EF5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769" y="0"/>
            <a:ext cx="8734425" cy="2400300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F10E415F-7615-DF84-0EA8-35398EF53F2B}"/>
              </a:ext>
            </a:extLst>
          </p:cNvPr>
          <p:cNvSpPr txBox="1"/>
          <p:nvPr/>
        </p:nvSpPr>
        <p:spPr>
          <a:xfrm>
            <a:off x="446398" y="1293106"/>
            <a:ext cx="554543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r-HR" sz="2400" dirty="0"/>
              <a:t>Pripremim tabelu (npr. 10x10 kvadratića) i u sredinu tabele napišem npr. riječ ISUS (svako slovo u svoju ćeliju). Učenici po grupama smišljaju riječi (koje npr. imaju veze s kršćanskim molitvama) i probaju upisati riječ u tabelu/križaljku ali tako da moraju za svoju riječ </a:t>
            </a:r>
            <a:r>
              <a:rPr lang="hr-HR" sz="2400" u="sng" dirty="0"/>
              <a:t>iskoristiti barem jedno već otprije upisano slovo</a:t>
            </a:r>
            <a:r>
              <a:rPr lang="hr-HR" sz="2400" dirty="0"/>
              <a:t>. </a:t>
            </a:r>
            <a:r>
              <a:rPr lang="hr-HR" sz="2400" u="sng" dirty="0"/>
              <a:t>Koliko</a:t>
            </a:r>
            <a:r>
              <a:rPr lang="hr-HR" sz="2400" dirty="0"/>
              <a:t> su </a:t>
            </a:r>
            <a:r>
              <a:rPr lang="hr-HR" sz="2400" u="sng" dirty="0"/>
              <a:t>slova "iskoristili"</a:t>
            </a:r>
            <a:r>
              <a:rPr lang="hr-HR" sz="2400" dirty="0"/>
              <a:t> (koje su bile prije upisane), toliko bodova dobiju. Smiju riječi upisivati u svim smjerovima (kao u "</a:t>
            </a:r>
            <a:r>
              <a:rPr lang="hr-HR" sz="2400" dirty="0" err="1"/>
              <a:t>osmosmjerkama</a:t>
            </a:r>
            <a:r>
              <a:rPr lang="hr-HR" sz="2400" dirty="0"/>
              <a:t>"). Pobijedit će grupa s najviše bodova.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DF543E96-8724-76A2-D77B-B7976C1643DA}"/>
              </a:ext>
            </a:extLst>
          </p:cNvPr>
          <p:cNvSpPr txBox="1"/>
          <p:nvPr/>
        </p:nvSpPr>
        <p:spPr>
          <a:xfrm>
            <a:off x="446398" y="492452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3200" dirty="0"/>
              <a:t>Osmosmjerka</a:t>
            </a:r>
          </a:p>
        </p:txBody>
      </p:sp>
      <p:pic>
        <p:nvPicPr>
          <p:cNvPr id="9" name="Slika 8" descr="Slika na kojoj se prikazuje kvadrat, Trokut, crta, tekst&#10;&#10;Sadržaj generiran uz AI možda nije točan.">
            <a:extLst>
              <a:ext uri="{FF2B5EF4-FFF2-40B4-BE49-F238E27FC236}">
                <a16:creationId xmlns:a16="http://schemas.microsoft.com/office/drawing/2014/main" id="{894677AF-A0B0-C1D4-15A1-4990F9B962A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2947"/>
            <a:ext cx="5976275" cy="4823806"/>
          </a:xfrm>
          <a:prstGeom prst="rect">
            <a:avLst/>
          </a:prstGeom>
        </p:spPr>
      </p:pic>
      <p:pic>
        <p:nvPicPr>
          <p:cNvPr id="8194" name="Picture 2" descr="3,916 All Directions Symbol Stock Vectors and Vector Art | Shutterstock">
            <a:extLst>
              <a:ext uri="{FF2B5EF4-FFF2-40B4-BE49-F238E27FC236}">
                <a16:creationId xmlns:a16="http://schemas.microsoft.com/office/drawing/2014/main" id="{C2CE395D-E148-8602-7067-A64E6E544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292" y="3774850"/>
            <a:ext cx="2182310" cy="218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niOkvir 1">
            <a:extLst>
              <a:ext uri="{FF2B5EF4-FFF2-40B4-BE49-F238E27FC236}">
                <a16:creationId xmlns:a16="http://schemas.microsoft.com/office/drawing/2014/main" id="{2426463E-E16F-12CB-FD92-46C1A04177D7}"/>
              </a:ext>
            </a:extLst>
          </p:cNvPr>
          <p:cNvSpPr txBox="1"/>
          <p:nvPr/>
        </p:nvSpPr>
        <p:spPr>
          <a:xfrm>
            <a:off x="7984542" y="3298785"/>
            <a:ext cx="1784491" cy="37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/>
              <a:t>I        S        U      S</a:t>
            </a:r>
          </a:p>
        </p:txBody>
      </p:sp>
    </p:spTree>
    <p:extLst>
      <p:ext uri="{BB962C8B-B14F-4D97-AF65-F5344CB8AC3E}">
        <p14:creationId xmlns:p14="http://schemas.microsoft.com/office/powerpoint/2010/main" val="34177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AC85AA-EBEF-280A-882B-D8B532004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Slika 4" descr="Slika na kojoj se prikazuje umjetničko djelo&#10;&#10;Sadržaj generiran uz AI možda nije točan.">
            <a:extLst>
              <a:ext uri="{FF2B5EF4-FFF2-40B4-BE49-F238E27FC236}">
                <a16:creationId xmlns:a16="http://schemas.microsoft.com/office/drawing/2014/main" id="{C6186AB3-1720-A26B-98D6-6504C39A23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08" y="2228850"/>
            <a:ext cx="8734425" cy="2400300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63F669E2-A210-749D-879F-812AA1A9F877}"/>
              </a:ext>
            </a:extLst>
          </p:cNvPr>
          <p:cNvSpPr txBox="1"/>
          <p:nvPr/>
        </p:nvSpPr>
        <p:spPr>
          <a:xfrm>
            <a:off x="5637007" y="529650"/>
            <a:ext cx="598468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hr-HR" sz="3200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hr-HR" sz="3200" dirty="0"/>
              <a:t>e.hublin.net/</a:t>
            </a:r>
            <a:r>
              <a:rPr lang="hr-HR" sz="3200" dirty="0">
                <a:solidFill>
                  <a:srgbClr val="FF0000"/>
                </a:solidFill>
              </a:rPr>
              <a:t>eevandjelje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6A6A3110-D99B-B18B-C725-D1F9CE39B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184" y="4174241"/>
            <a:ext cx="2562483" cy="257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94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6EA22559-02D8-5DEC-3AAA-159ACACD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58"/>
            <a:ext cx="12192000" cy="678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73988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626</Words>
  <Application>Microsoft Office PowerPoint</Application>
  <PresentationFormat>Široki zaslon</PresentationFormat>
  <Paragraphs>70</Paragraphs>
  <Slides>11</Slides>
  <Notes>10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Aptos</vt:lpstr>
      <vt:lpstr>Tema sustava Office</vt:lpstr>
      <vt:lpstr>Premetaljka slova</vt:lpstr>
      <vt:lpstr>Pogađalica slova</vt:lpstr>
      <vt:lpstr>Detektiv Dane</vt:lpstr>
      <vt:lpstr>Pantomima</vt:lpstr>
      <vt:lpstr>PowerPoint prezentacija</vt:lpstr>
      <vt:lpstr>PowerPoint prezentacija</vt:lpstr>
      <vt:lpstr>Pripremite se...!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Krešimir Hublin</dc:creator>
  <cp:lastModifiedBy>Krešimir Hublin</cp:lastModifiedBy>
  <cp:revision>53</cp:revision>
  <dcterms:created xsi:type="dcterms:W3CDTF">2025-10-27T20:18:16Z</dcterms:created>
  <dcterms:modified xsi:type="dcterms:W3CDTF">2025-11-13T07:38:06Z</dcterms:modified>
</cp:coreProperties>
</file>